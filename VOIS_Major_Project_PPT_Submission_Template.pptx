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5"/>
  </p:notesMasterIdLst>
  <p:handoutMasterIdLst>
    <p:handoutMasterId r:id="rId36"/>
  </p:handoutMasterIdLst>
  <p:sldIdLst>
    <p:sldId id="338" r:id="rId5"/>
    <p:sldId id="327" r:id="rId6"/>
    <p:sldId id="315" r:id="rId7"/>
    <p:sldId id="329" r:id="rId8"/>
    <p:sldId id="302" r:id="rId9"/>
    <p:sldId id="339" r:id="rId10"/>
    <p:sldId id="340" r:id="rId11"/>
    <p:sldId id="344" r:id="rId12"/>
    <p:sldId id="345" r:id="rId13"/>
    <p:sldId id="346" r:id="rId14"/>
    <p:sldId id="351" r:id="rId15"/>
    <p:sldId id="349" r:id="rId16"/>
    <p:sldId id="348" r:id="rId17"/>
    <p:sldId id="347" r:id="rId18"/>
    <p:sldId id="352" r:id="rId19"/>
    <p:sldId id="353" r:id="rId20"/>
    <p:sldId id="354" r:id="rId21"/>
    <p:sldId id="355" r:id="rId22"/>
    <p:sldId id="356" r:id="rId23"/>
    <p:sldId id="359" r:id="rId24"/>
    <p:sldId id="358" r:id="rId25"/>
    <p:sldId id="357" r:id="rId26"/>
    <p:sldId id="360" r:id="rId27"/>
    <p:sldId id="362" r:id="rId28"/>
    <p:sldId id="361" r:id="rId29"/>
    <p:sldId id="363" r:id="rId30"/>
    <p:sldId id="341" r:id="rId31"/>
    <p:sldId id="342" r:id="rId32"/>
    <p:sldId id="343" r:id="rId33"/>
    <p:sldId id="30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B6FD47-E802-4BFB-9D16-CE230C86A972}" v="545" dt="2026-09-12T20:34:45.558"/>
    <p1510:client id="{F04A0CF8-0D97-47CA-BBFA-A9F29F102AE2}" v="213" dt="2026-09-12T19:11:02.38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2617" y="3655801"/>
            <a:ext cx="9050388" cy="919006"/>
          </a:xfrm>
        </p:spPr>
        <p:txBody>
          <a:bodyPr vert="horz" lIns="91440" tIns="45720" rIns="91440" bIns="45720" rtlCol="0" anchor="t">
            <a:normAutofit/>
          </a:bodyPr>
          <a:lstStyle/>
          <a:p>
            <a:r>
              <a:rPr lang="en-US" b="0" dirty="0">
                <a:solidFill>
                  <a:schemeClr val="tx1"/>
                </a:solidFill>
              </a:rPr>
              <a:t>Student Name : KANISHKARAJ R P R  </a:t>
            </a:r>
            <a:endParaRPr lang="en-IN" b="0" dirty="0">
              <a:solidFill>
                <a:schemeClr val="tx1"/>
              </a:solidFill>
            </a:endParaRPr>
          </a:p>
          <a:p>
            <a:r>
              <a:rPr lang="en-US" b="0" dirty="0">
                <a:solidFill>
                  <a:schemeClr val="tx1"/>
                </a:solidFill>
              </a:rPr>
              <a:t>College Name : MISRIMAL NAVAJEE MUNOTH JAIN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657844"/>
            <a:ext cx="9053135" cy="872845"/>
          </a:xfrm>
        </p:spPr>
        <p:txBody>
          <a:bodyPr>
            <a:normAutofit fontScale="90000"/>
          </a:bodyPr>
          <a:lstStyle/>
          <a:p>
            <a:r>
              <a:rPr lang="en-GB" sz="3200" dirty="0"/>
              <a:t>Project Title –</a:t>
            </a:r>
            <a:r>
              <a:rPr lang="en-GB" sz="3200" dirty="0" err="1"/>
              <a:t>Seasonal_Agriculture_Performance_Analysis</a:t>
            </a:r>
            <a:endParaRPr lang="en-IN" sz="3200" dirty="0" err="1"/>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84236" y="4763375"/>
            <a:ext cx="8380965" cy="369332"/>
          </a:xfrm>
          <a:prstGeom prst="rect">
            <a:avLst/>
          </a:prstGeom>
          <a:noFill/>
        </p:spPr>
        <p:txBody>
          <a:bodyPr wrap="square" lIns="91440" tIns="45720" rIns="91440" bIns="45720" rtlCol="0" anchor="t">
            <a:spAutoFit/>
          </a:bodyPr>
          <a:lstStyle/>
          <a:p>
            <a:r>
              <a:rPr lang="en-US" b="1" dirty="0"/>
              <a:t>AICTE STU ID : </a:t>
            </a:r>
            <a:r>
              <a:rPr lang="en-US" b="1" dirty="0">
                <a:solidFill>
                  <a:srgbClr val="475569"/>
                </a:solidFill>
                <a:highlight>
                  <a:srgbClr val="FFFFFF"/>
                </a:highlight>
                <a:ea typeface="+mn-lt"/>
                <a:cs typeface="+mn-lt"/>
              </a:rPr>
              <a:t> </a:t>
            </a:r>
            <a:r>
              <a:rPr lang="en-US" b="1" dirty="0">
                <a:solidFill>
                  <a:srgbClr val="020617"/>
                </a:solidFill>
                <a:highlight>
                  <a:srgbClr val="FFFFFF"/>
                </a:highlight>
                <a:ea typeface="+mn-lt"/>
                <a:cs typeface="+mn-lt"/>
              </a:rPr>
              <a:t>STU684d497ca665e1749895548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8933" y="1343594"/>
            <a:ext cx="6431280" cy="4700666"/>
          </a:xfrm>
        </p:spPr>
        <p:txBody>
          <a:bodyPr vert="horz" lIns="91440" tIns="45720" rIns="91440" bIns="45720" rtlCol="0" anchor="t">
            <a:noAutofit/>
          </a:bodyPr>
          <a:lstStyle/>
          <a:p>
            <a:r>
              <a:rPr lang="en-US" dirty="0">
                <a:ea typeface="+mn-lt"/>
                <a:cs typeface="+mn-lt"/>
              </a:rPr>
              <a:t>Agricultural activities are influenced by seasonal variations in environmental conditions, farming practices, resource availability and market conditions. </a:t>
            </a:r>
            <a:endParaRPr lang="en-US" dirty="0"/>
          </a:p>
          <a:p>
            <a:r>
              <a:rPr lang="en-US" dirty="0">
                <a:ea typeface="+mn-lt"/>
                <a:cs typeface="+mn-lt"/>
              </a:rPr>
              <a:t>As a result, agricultural performance may differ from one season to another. However, raw agricultural data does not clearly explain how agricultural performance changes across seasons or what patterns can be observed in different seasonal conditions. </a:t>
            </a:r>
          </a:p>
          <a:p>
            <a:r>
              <a:rPr lang="en-US" dirty="0">
                <a:ea typeface="+mn-lt"/>
                <a:cs typeface="+mn-lt"/>
              </a:rPr>
              <a:t>The problem is to analyze the given agricultural dataset and investigate seasonal differences in agricultural performance by identifying meaningful patterns, trends, relationships and variations within the available data. </a:t>
            </a:r>
            <a:endParaRPr lang="en-US"/>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3200" dirty="0"/>
              <a:t>PROBLEM  STATEMENT</a:t>
            </a:r>
            <a:endParaRPr lang="en-IN" sz="320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A3E42D3E-6E60-3807-E7D1-81B1B94EEF98}"/>
              </a:ext>
            </a:extLst>
          </p:cNvPr>
          <p:cNvSpPr txBox="1"/>
          <p:nvPr/>
        </p:nvSpPr>
        <p:spPr>
          <a:xfrm>
            <a:off x="717617" y="691051"/>
            <a:ext cx="8464826"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ct val="0"/>
              </a:spcBef>
              <a:buFont typeface="Arial"/>
              <a:buChar char="•"/>
            </a:pPr>
            <a:r>
              <a:rPr lang="en-GB" sz="2000" b="1" dirty="0">
                <a:solidFill>
                  <a:srgbClr val="1F1F1F"/>
                </a:solidFill>
              </a:rPr>
              <a:t>Comprehensive Data Scope:</a:t>
            </a:r>
            <a:r>
              <a:rPr lang="en-GB" sz="2000" dirty="0">
                <a:solidFill>
                  <a:srgbClr val="1F1F1F"/>
                </a:solidFill>
              </a:rPr>
              <a:t> </a:t>
            </a:r>
            <a:r>
              <a:rPr lang="en-GB" sz="2000" dirty="0" err="1">
                <a:solidFill>
                  <a:srgbClr val="1F1F1F"/>
                </a:solidFill>
              </a:rPr>
              <a:t>Analyzed</a:t>
            </a:r>
            <a:r>
              <a:rPr lang="en-GB" sz="2000" dirty="0">
                <a:solidFill>
                  <a:srgbClr val="1F1F1F"/>
                </a:solidFill>
              </a:rPr>
              <a:t> 4,000 farm records across 28 parameters to investigate agricultural performance and resource utilization across Kharif, Rabi, and Zaid seasons. </a:t>
            </a:r>
            <a:br>
              <a:rPr lang="en-GB" sz="2000" dirty="0"/>
            </a:br>
            <a:endParaRPr lang="en-GB" sz="2000" dirty="0">
              <a:solidFill>
                <a:srgbClr val="1F1F1F"/>
              </a:solidFill>
            </a:endParaRPr>
          </a:p>
          <a:p>
            <a:pPr marL="342900" indent="-342900">
              <a:spcBef>
                <a:spcPct val="0"/>
              </a:spcBef>
              <a:buFont typeface="Arial"/>
              <a:buChar char="•"/>
            </a:pPr>
            <a:r>
              <a:rPr lang="en-GB" sz="2000" b="1" dirty="0">
                <a:solidFill>
                  <a:srgbClr val="1F1F1F"/>
                </a:solidFill>
              </a:rPr>
              <a:t>Rigorous Data Governance:</a:t>
            </a:r>
            <a:r>
              <a:rPr lang="en-GB" sz="2000" dirty="0">
                <a:solidFill>
                  <a:srgbClr val="1F1F1F"/>
                </a:solidFill>
              </a:rPr>
              <a:t> Addressed 120 missing values using deterministic area-production yield recovery and context-aware grouped median imputation, ensuring 0% data loss. </a:t>
            </a:r>
            <a:br>
              <a:rPr lang="en-GB" sz="2000" dirty="0"/>
            </a:br>
            <a:endParaRPr lang="en-GB" sz="2000"/>
          </a:p>
          <a:p>
            <a:pPr marL="342900" indent="-342900">
              <a:spcBef>
                <a:spcPct val="0"/>
              </a:spcBef>
              <a:buFont typeface="Arial"/>
              <a:buChar char="•"/>
            </a:pPr>
            <a:r>
              <a:rPr lang="en-GB" sz="2000" b="1" dirty="0">
                <a:solidFill>
                  <a:srgbClr val="1F1F1F"/>
                </a:solidFill>
              </a:rPr>
              <a:t>Multi-Dimensional Analytics:</a:t>
            </a:r>
            <a:r>
              <a:rPr lang="en-GB" sz="2000" dirty="0">
                <a:solidFill>
                  <a:srgbClr val="1F1F1F"/>
                </a:solidFill>
              </a:rPr>
              <a:t> Executed univariate, bivariate, multivariate, and correlation models to map complex dependencies between soil chemistry, water efficiency, pest risk, and financial margins. </a:t>
            </a:r>
            <a:br>
              <a:rPr lang="en-GB" sz="2000" dirty="0"/>
            </a:br>
            <a:endParaRPr lang="en-GB" sz="2000"/>
          </a:p>
          <a:p>
            <a:pPr marL="342900" indent="-342900">
              <a:spcBef>
                <a:spcPct val="0"/>
              </a:spcBef>
              <a:buFont typeface="Arial"/>
              <a:buChar char="•"/>
            </a:pPr>
            <a:r>
              <a:rPr lang="en-GB" sz="2000" b="1" dirty="0">
                <a:solidFill>
                  <a:srgbClr val="1F1F1F"/>
                </a:solidFill>
              </a:rPr>
              <a:t>Actionable Operational Inquiries:</a:t>
            </a:r>
            <a:r>
              <a:rPr lang="en-GB" sz="2000" dirty="0">
                <a:solidFill>
                  <a:srgbClr val="1F1F1F"/>
                </a:solidFill>
              </a:rPr>
              <a:t> Implemented three targeted analytical inquiries to evaluate drip irrigation ROI, chemical fertilizer diminishing returns, and regional crop profitability matrices. </a:t>
            </a:r>
            <a:br>
              <a:rPr lang="en-GB" sz="2000" dirty="0"/>
            </a:br>
            <a:endParaRPr lang="en-GB" sz="2000"/>
          </a:p>
          <a:p>
            <a:pPr marL="342900" indent="-342900">
              <a:spcBef>
                <a:spcPct val="0"/>
              </a:spcBef>
              <a:buFont typeface="Arial"/>
              <a:buChar char="•"/>
            </a:pPr>
            <a:r>
              <a:rPr lang="en-GB" sz="2000" b="1" dirty="0">
                <a:solidFill>
                  <a:srgbClr val="1F1F1F"/>
                </a:solidFill>
              </a:rPr>
              <a:t>Strategic Impact:</a:t>
            </a:r>
            <a:r>
              <a:rPr lang="en-GB" sz="2000" dirty="0">
                <a:solidFill>
                  <a:srgbClr val="1F1F1F"/>
                </a:solidFill>
              </a:rPr>
              <a:t> Delivered evidence-</a:t>
            </a:r>
            <a:r>
              <a:rPr lang="en-GB" sz="2000" dirty="0" err="1">
                <a:solidFill>
                  <a:srgbClr val="1F1F1F"/>
                </a:solidFill>
              </a:rPr>
              <a:t>basedrecommendations</a:t>
            </a:r>
            <a:r>
              <a:rPr lang="en-GB" sz="2000" dirty="0">
                <a:solidFill>
                  <a:srgbClr val="1F1F1F"/>
                </a:solidFill>
              </a:rPr>
              <a:t> for sustainable agricultural planning </a:t>
            </a:r>
            <a:r>
              <a:rPr lang="en-GB" sz="2000" dirty="0" err="1">
                <a:solidFill>
                  <a:srgbClr val="1F1F1F"/>
                </a:solidFill>
              </a:rPr>
              <a:t>andresource</a:t>
            </a:r>
            <a:r>
              <a:rPr lang="en-GB" sz="2000" dirty="0">
                <a:solidFill>
                  <a:srgbClr val="1F1F1F"/>
                </a:solidFill>
              </a:rPr>
              <a:t> optimization without reliance on </a:t>
            </a:r>
            <a:r>
              <a:rPr lang="en-GB" sz="2000" dirty="0" err="1">
                <a:solidFill>
                  <a:srgbClr val="1F1F1F"/>
                </a:solidFill>
              </a:rPr>
              <a:t>complexmachine</a:t>
            </a:r>
            <a:r>
              <a:rPr lang="en-GB" sz="2000" dirty="0">
                <a:solidFill>
                  <a:srgbClr val="1F1F1F"/>
                </a:solidFill>
              </a:rPr>
              <a:t> learning. </a:t>
            </a:r>
            <a:endParaRPr lang="en-IN" sz="2000"/>
          </a:p>
          <a:p>
            <a:pPr marL="342900" indent="-342900" algn="l">
              <a:buFont typeface="Arial"/>
              <a:buChar char="•"/>
            </a:pPr>
            <a:endParaRPr lang="en-US" sz="2000" dirty="0"/>
          </a:p>
        </p:txBody>
      </p:sp>
      <p:sp>
        <p:nvSpPr>
          <p:cNvPr id="8" name="Title 7">
            <a:extLst>
              <a:ext uri="{FF2B5EF4-FFF2-40B4-BE49-F238E27FC236}">
                <a16:creationId xmlns:a16="http://schemas.microsoft.com/office/drawing/2014/main" id="{143B3493-B51A-7C49-130C-A88F3390B794}"/>
              </a:ext>
            </a:extLst>
          </p:cNvPr>
          <p:cNvSpPr>
            <a:spLocks noGrp="1"/>
          </p:cNvSpPr>
          <p:nvPr>
            <p:ph type="title"/>
          </p:nvPr>
        </p:nvSpPr>
        <p:spPr>
          <a:xfrm>
            <a:off x="674777" y="81"/>
            <a:ext cx="4275138" cy="830997"/>
          </a:xfrm>
        </p:spPr>
        <p:txBody>
          <a:bodyPr>
            <a:normAutofit/>
          </a:bodyPr>
          <a:lstStyle/>
          <a:p>
            <a:r>
              <a:rPr lang="en-US" sz="3200" dirty="0"/>
              <a:t>Project Description</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 Placeholder 4">
            <a:extLst>
              <a:ext uri="{FF2B5EF4-FFF2-40B4-BE49-F238E27FC236}">
                <a16:creationId xmlns:a16="http://schemas.microsoft.com/office/drawing/2014/main" id="{96EEB90E-DE87-CE64-7380-DB48753725BD}"/>
              </a:ext>
            </a:extLst>
          </p:cNvPr>
          <p:cNvSpPr>
            <a:spLocks noGrp="1"/>
          </p:cNvSpPr>
          <p:nvPr>
            <p:ph type="body" sz="quarter" idx="12"/>
          </p:nvPr>
        </p:nvSpPr>
        <p:spPr>
          <a:xfrm>
            <a:off x="617269" y="1541493"/>
            <a:ext cx="8128269" cy="4365895"/>
          </a:xfrm>
        </p:spPr>
        <p:txBody>
          <a:bodyPr vert="horz" lIns="91440" tIns="45720" rIns="91440" bIns="45720" rtlCol="0" anchor="t">
            <a:normAutofit/>
          </a:bodyPr>
          <a:lstStyle/>
          <a:p>
            <a:r>
              <a:rPr lang="en-US" b="1" dirty="0">
                <a:solidFill>
                  <a:srgbClr val="1F1F1F"/>
                </a:solidFill>
                <a:ea typeface="+mn-lt"/>
                <a:cs typeface="+mn-lt"/>
              </a:rPr>
              <a:t>Agricultural Planners &amp; Policymakers:</a:t>
            </a:r>
            <a:r>
              <a:rPr lang="en-US" dirty="0">
                <a:solidFill>
                  <a:srgbClr val="1F1F1F"/>
                </a:solidFill>
                <a:ea typeface="+mn-lt"/>
                <a:cs typeface="+mn-lt"/>
              </a:rPr>
              <a:t> To design data-driven resource subsidies, optimize water distribution networks, and establish sustainable agricultural zoning policies.</a:t>
            </a:r>
            <a:endParaRPr lang="en-US" dirty="0">
              <a:solidFill>
                <a:srgbClr val="404040"/>
              </a:solidFill>
              <a:ea typeface="+mn-lt"/>
              <a:cs typeface="+mn-lt"/>
            </a:endParaRPr>
          </a:p>
          <a:p>
            <a:r>
              <a:rPr lang="en-US" b="1" dirty="0">
                <a:solidFill>
                  <a:srgbClr val="1F1F1F"/>
                </a:solidFill>
                <a:ea typeface="+mn-lt"/>
                <a:cs typeface="+mn-lt"/>
              </a:rPr>
              <a:t>Agribusinesses &amp; Supply Chain Managers:</a:t>
            </a:r>
            <a:r>
              <a:rPr lang="en-US" dirty="0">
                <a:solidFill>
                  <a:srgbClr val="1F1F1F"/>
                </a:solidFill>
                <a:ea typeface="+mn-lt"/>
                <a:cs typeface="+mn-lt"/>
              </a:rPr>
              <a:t> To forecast seasonal harvest volumes, mitigate supply chain bottlenecks, and anticipate regional commodity pricing trends.</a:t>
            </a:r>
            <a:endParaRPr lang="en-US">
              <a:solidFill>
                <a:srgbClr val="404040"/>
              </a:solidFill>
              <a:ea typeface="+mn-lt"/>
              <a:cs typeface="+mn-lt"/>
            </a:endParaRPr>
          </a:p>
          <a:p>
            <a:r>
              <a:rPr lang="en-US" b="1" dirty="0">
                <a:solidFill>
                  <a:srgbClr val="1F1F1F"/>
                </a:solidFill>
                <a:ea typeface="+mn-lt"/>
                <a:cs typeface="+mn-lt"/>
              </a:rPr>
              <a:t>Farmers &amp; Agronomists:</a:t>
            </a:r>
            <a:r>
              <a:rPr lang="en-US" dirty="0">
                <a:solidFill>
                  <a:srgbClr val="1F1F1F"/>
                </a:solidFill>
                <a:ea typeface="+mn-lt"/>
                <a:cs typeface="+mn-lt"/>
              </a:rPr>
              <a:t> To optimize chemical fertilizer application rates, reduce input cost erosion, and adopt water-efficient drip irrigation methods for superior farm profitability. </a:t>
            </a:r>
            <a:endParaRPr lang="en-US"/>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0844" y="1461315"/>
            <a:ext cx="9027702" cy="5243448"/>
          </a:xfrm>
        </p:spPr>
        <p:txBody>
          <a:bodyPr vert="horz" lIns="91440" tIns="45720" rIns="91440" bIns="45720" rtlCol="0" anchor="t">
            <a:normAutofit/>
          </a:bodyPr>
          <a:lstStyle/>
          <a:p>
            <a:r>
              <a:rPr lang="en-IN" b="1" dirty="0">
                <a:solidFill>
                  <a:srgbClr val="1F1F1F"/>
                </a:solidFill>
                <a:ea typeface="+mn-lt"/>
                <a:cs typeface="+mn-lt"/>
              </a:rPr>
              <a:t>Programming Language:</a:t>
            </a:r>
            <a:r>
              <a:rPr lang="en-IN" dirty="0">
                <a:solidFill>
                  <a:srgbClr val="1F1F1F"/>
                </a:solidFill>
                <a:ea typeface="+mn-lt"/>
                <a:cs typeface="+mn-lt"/>
              </a:rPr>
              <a:t> Python </a:t>
            </a:r>
            <a:endParaRPr lang="en-US"/>
          </a:p>
          <a:p>
            <a:r>
              <a:rPr lang="en-IN" b="1" dirty="0">
                <a:solidFill>
                  <a:srgbClr val="1F1F1F"/>
                </a:solidFill>
                <a:ea typeface="+mn-lt"/>
                <a:cs typeface="+mn-lt"/>
              </a:rPr>
              <a:t>Development Environment:</a:t>
            </a:r>
            <a:r>
              <a:rPr lang="en-IN" dirty="0">
                <a:solidFill>
                  <a:srgbClr val="1F1F1F"/>
                </a:solidFill>
                <a:ea typeface="+mn-lt"/>
                <a:cs typeface="+mn-lt"/>
              </a:rPr>
              <a:t> Google </a:t>
            </a:r>
            <a:r>
              <a:rPr lang="en-IN" dirty="0" err="1">
                <a:solidFill>
                  <a:srgbClr val="1F1F1F"/>
                </a:solidFill>
                <a:ea typeface="+mn-lt"/>
                <a:cs typeface="+mn-lt"/>
              </a:rPr>
              <a:t>Colab</a:t>
            </a:r>
            <a:r>
              <a:rPr lang="en-IN" dirty="0">
                <a:solidFill>
                  <a:srgbClr val="1F1F1F"/>
                </a:solidFill>
                <a:ea typeface="+mn-lt"/>
                <a:cs typeface="+mn-lt"/>
              </a:rPr>
              <a:t>  </a:t>
            </a:r>
            <a:endParaRPr lang="en-IN" dirty="0">
              <a:solidFill>
                <a:srgbClr val="404040"/>
              </a:solidFill>
              <a:ea typeface="+mn-lt"/>
              <a:cs typeface="+mn-lt"/>
            </a:endParaRPr>
          </a:p>
          <a:p>
            <a:r>
              <a:rPr lang="en-IN" b="1" dirty="0">
                <a:solidFill>
                  <a:srgbClr val="1F1F1F"/>
                </a:solidFill>
                <a:ea typeface="+mn-lt"/>
                <a:cs typeface="+mn-lt"/>
              </a:rPr>
              <a:t>Core Data Analytics &amp; Visualization Libraries:</a:t>
            </a:r>
            <a:r>
              <a:rPr lang="en-IN" dirty="0">
                <a:highlight>
                  <a:srgbClr val="F2F0F0"/>
                </a:highlight>
                <a:latin typeface="Consolas"/>
              </a:rPr>
              <a:t>             </a:t>
            </a:r>
            <a:endParaRPr lang="en-IN" dirty="0">
              <a:latin typeface="Trebuchet MS" panose="020B0603020202020204"/>
            </a:endParaRPr>
          </a:p>
          <a:p>
            <a:pPr marL="0" indent="0">
              <a:buNone/>
            </a:pPr>
            <a:r>
              <a:rPr lang="en-IN" dirty="0">
                <a:highlight>
                  <a:srgbClr val="F2F0F0"/>
                </a:highlight>
                <a:latin typeface="Consolas"/>
              </a:rPr>
              <a:t>1.Pandas</a:t>
            </a:r>
            <a:r>
              <a:rPr lang="en-IN" dirty="0">
                <a:solidFill>
                  <a:srgbClr val="1F1F1F"/>
                </a:solidFill>
                <a:ea typeface="+mn-lt"/>
                <a:cs typeface="+mn-lt"/>
              </a:rPr>
              <a:t> &amp; </a:t>
            </a:r>
            <a:r>
              <a:rPr lang="en-IN" dirty="0">
                <a:highlight>
                  <a:srgbClr val="F2F0F0"/>
                </a:highlight>
                <a:latin typeface="Consolas"/>
              </a:rPr>
              <a:t>NumPy</a:t>
            </a:r>
            <a:r>
              <a:rPr lang="en-IN" dirty="0">
                <a:solidFill>
                  <a:srgbClr val="1F1F1F"/>
                </a:solidFill>
                <a:ea typeface="+mn-lt"/>
                <a:cs typeface="+mn-lt"/>
              </a:rPr>
              <a:t> – Utilized for data ingestion, cleaning, primary      key   deduplication, missing value imputation, and quantitative aggregation. </a:t>
            </a:r>
            <a:br>
              <a:rPr lang="en-IN" dirty="0">
                <a:solidFill>
                  <a:srgbClr val="1F1F1F"/>
                </a:solidFill>
                <a:ea typeface="+mn-lt"/>
                <a:cs typeface="+mn-lt"/>
              </a:rPr>
            </a:br>
            <a:r>
              <a:rPr lang="en-IN" dirty="0">
                <a:highlight>
                  <a:srgbClr val="F2F0F0"/>
                </a:highlight>
                <a:latin typeface="Consolas"/>
              </a:rPr>
              <a:t>2.Matplotlib</a:t>
            </a:r>
            <a:r>
              <a:rPr lang="en-IN" dirty="0">
                <a:solidFill>
                  <a:srgbClr val="1F1F1F"/>
                </a:solidFill>
                <a:ea typeface="+mn-lt"/>
                <a:cs typeface="+mn-lt"/>
              </a:rPr>
              <a:t> &amp; </a:t>
            </a:r>
            <a:r>
              <a:rPr lang="en-IN" dirty="0">
                <a:highlight>
                  <a:srgbClr val="F2F0F0"/>
                </a:highlight>
                <a:latin typeface="Consolas"/>
              </a:rPr>
              <a:t>Seaborn</a:t>
            </a:r>
            <a:r>
              <a:rPr lang="en-IN" dirty="0">
                <a:solidFill>
                  <a:srgbClr val="1F1F1F"/>
                </a:solidFill>
                <a:ea typeface="+mn-lt"/>
                <a:cs typeface="+mn-lt"/>
              </a:rPr>
              <a:t> – Utilized for generating exploratory visualizations, including univariate distribution histograms, bivariate cost-revenue evaluations, multivariate pest risk boxplots, and correlation heatmaps. </a:t>
            </a:r>
            <a:endParaRPr lang="en-IN"/>
          </a:p>
          <a:p>
            <a:pPr lvl="1">
              <a:lnSpc>
                <a:spcPct val="150000"/>
              </a:lnSpc>
              <a:buFont typeface="Courier New" panose="05000000000000000000" pitchFamily="2" charset="2"/>
              <a:buChar char="o"/>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C0E0859-889F-54A8-06C9-E7199B3AE863}"/>
              </a:ext>
            </a:extLst>
          </p:cNvPr>
          <p:cNvPicPr>
            <a:picLocks noChangeAspect="1"/>
          </p:cNvPicPr>
          <p:nvPr/>
        </p:nvPicPr>
        <p:blipFill>
          <a:blip r:embed="rId3"/>
          <a:srcRect t="136" r="52124" b="-433"/>
          <a:stretch>
            <a:fillRect/>
          </a:stretch>
        </p:blipFill>
        <p:spPr>
          <a:xfrm>
            <a:off x="673759" y="1605249"/>
            <a:ext cx="8434527" cy="339324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11" name="Picture 10">
            <a:extLst>
              <a:ext uri="{FF2B5EF4-FFF2-40B4-BE49-F238E27FC236}">
                <a16:creationId xmlns:a16="http://schemas.microsoft.com/office/drawing/2014/main" id="{AFAFBD53-54A8-6C78-C3DF-F34F7F525003}"/>
              </a:ext>
            </a:extLst>
          </p:cNvPr>
          <p:cNvPicPr>
            <a:picLocks noChangeAspect="1"/>
          </p:cNvPicPr>
          <p:nvPr/>
        </p:nvPicPr>
        <p:blipFill>
          <a:blip r:embed="rId3"/>
          <a:stretch>
            <a:fillRect/>
          </a:stretch>
        </p:blipFill>
        <p:spPr>
          <a:xfrm>
            <a:off x="689485" y="1429739"/>
            <a:ext cx="8483898" cy="398414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ACF6A258-699F-4B4F-CF91-275B990FC80B}"/>
              </a:ext>
            </a:extLst>
          </p:cNvPr>
          <p:cNvSpPr>
            <a:spLocks noGrp="1"/>
          </p:cNvSpPr>
          <p:nvPr>
            <p:ph type="body" sz="quarter" idx="12"/>
          </p:nvPr>
        </p:nvSpPr>
        <p:spPr/>
        <p:txBody>
          <a:bodyPr vert="horz" lIns="91440" tIns="45720" rIns="91440" bIns="45720" rtlCol="0" anchor="t">
            <a:normAutofit/>
          </a:bodyPr>
          <a:lstStyle/>
          <a:p>
            <a:endParaRPr lang="en-US">
              <a:solidFill>
                <a:srgbClr val="404040"/>
              </a:solidFill>
            </a:endParaRPr>
          </a:p>
        </p:txBody>
      </p:sp>
      <p:pic>
        <p:nvPicPr>
          <p:cNvPr id="12" name="Picture 11">
            <a:extLst>
              <a:ext uri="{FF2B5EF4-FFF2-40B4-BE49-F238E27FC236}">
                <a16:creationId xmlns:a16="http://schemas.microsoft.com/office/drawing/2014/main" id="{46C2F36F-F846-43BB-998F-AF3A79F71E59}"/>
              </a:ext>
            </a:extLst>
          </p:cNvPr>
          <p:cNvPicPr>
            <a:picLocks noChangeAspect="1"/>
          </p:cNvPicPr>
          <p:nvPr/>
        </p:nvPicPr>
        <p:blipFill>
          <a:blip r:embed="rId3"/>
          <a:stretch>
            <a:fillRect/>
          </a:stretch>
        </p:blipFill>
        <p:spPr>
          <a:xfrm>
            <a:off x="659561" y="1262870"/>
            <a:ext cx="8601256" cy="316769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3" name="Picture 2">
            <a:extLst>
              <a:ext uri="{FF2B5EF4-FFF2-40B4-BE49-F238E27FC236}">
                <a16:creationId xmlns:a16="http://schemas.microsoft.com/office/drawing/2014/main" id="{496481C1-463D-F661-ACBE-A03C24A72FB9}"/>
              </a:ext>
            </a:extLst>
          </p:cNvPr>
          <p:cNvPicPr>
            <a:picLocks noChangeAspect="1"/>
          </p:cNvPicPr>
          <p:nvPr/>
        </p:nvPicPr>
        <p:blipFill>
          <a:blip r:embed="rId3"/>
          <a:stretch>
            <a:fillRect/>
          </a:stretch>
        </p:blipFill>
        <p:spPr>
          <a:xfrm>
            <a:off x="673759" y="1425425"/>
            <a:ext cx="8472219" cy="32882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6" name="Picture 5">
            <a:extLst>
              <a:ext uri="{FF2B5EF4-FFF2-40B4-BE49-F238E27FC236}">
                <a16:creationId xmlns:a16="http://schemas.microsoft.com/office/drawing/2014/main" id="{96CF2F13-80E8-1313-8B8D-A750F466639F}"/>
              </a:ext>
            </a:extLst>
          </p:cNvPr>
          <p:cNvPicPr>
            <a:picLocks noChangeAspect="1"/>
          </p:cNvPicPr>
          <p:nvPr/>
        </p:nvPicPr>
        <p:blipFill>
          <a:blip r:embed="rId3"/>
          <a:stretch>
            <a:fillRect/>
          </a:stretch>
        </p:blipFill>
        <p:spPr>
          <a:xfrm>
            <a:off x="678971" y="1430726"/>
            <a:ext cx="8648701" cy="313390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29836-8386-86D2-C3BE-5A182B7F49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F37D11-8E81-6271-BB4D-9FD224F7B54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E564132-C176-7F64-4DBD-12135660D83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2849E91-BB19-69BA-2641-B0E43F49C89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38213BF-DAA1-6369-99B4-4BB442329C6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39FA87E-87F2-4372-BE30-7ED25A0E1041}"/>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3" name="Picture 2">
            <a:extLst>
              <a:ext uri="{FF2B5EF4-FFF2-40B4-BE49-F238E27FC236}">
                <a16:creationId xmlns:a16="http://schemas.microsoft.com/office/drawing/2014/main" id="{C6EDB08F-E854-1866-0214-E7344935D282}"/>
              </a:ext>
            </a:extLst>
          </p:cNvPr>
          <p:cNvPicPr>
            <a:picLocks noChangeAspect="1"/>
          </p:cNvPicPr>
          <p:nvPr/>
        </p:nvPicPr>
        <p:blipFill>
          <a:blip r:embed="rId3"/>
          <a:stretch>
            <a:fillRect/>
          </a:stretch>
        </p:blipFill>
        <p:spPr>
          <a:xfrm>
            <a:off x="673670" y="1601278"/>
            <a:ext cx="8673682" cy="3367897"/>
          </a:xfrm>
          <a:prstGeom prst="rect">
            <a:avLst/>
          </a:prstGeom>
        </p:spPr>
      </p:pic>
    </p:spTree>
    <p:extLst>
      <p:ext uri="{BB962C8B-B14F-4D97-AF65-F5344CB8AC3E}">
        <p14:creationId xmlns:p14="http://schemas.microsoft.com/office/powerpoint/2010/main" val="16178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F01F-3168-F042-A740-C62AB3A2F26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2C26BD-4CA2-B4CE-87C1-248FFC3BA45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7415B9E-0A5B-976C-DAE1-16466048641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A0F2033-291D-51B6-55C9-DC2E1EF3DD8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0899B40-2787-AC20-61A8-E33FC716D69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E7F0E8D-1159-EBE3-B3B0-A1177A749AD4}"/>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3" name="Picture 2">
            <a:extLst>
              <a:ext uri="{FF2B5EF4-FFF2-40B4-BE49-F238E27FC236}">
                <a16:creationId xmlns:a16="http://schemas.microsoft.com/office/drawing/2014/main" id="{2935CA61-5D82-E12D-B9B3-8FF4129C22ED}"/>
              </a:ext>
            </a:extLst>
          </p:cNvPr>
          <p:cNvPicPr>
            <a:picLocks noChangeAspect="1"/>
          </p:cNvPicPr>
          <p:nvPr/>
        </p:nvPicPr>
        <p:blipFill>
          <a:blip r:embed="rId3"/>
          <a:stretch>
            <a:fillRect/>
          </a:stretch>
        </p:blipFill>
        <p:spPr>
          <a:xfrm>
            <a:off x="673759" y="1599930"/>
            <a:ext cx="8443466" cy="3485611"/>
          </a:xfrm>
          <a:prstGeom prst="rect">
            <a:avLst/>
          </a:prstGeom>
        </p:spPr>
      </p:pic>
    </p:spTree>
    <p:extLst>
      <p:ext uri="{BB962C8B-B14F-4D97-AF65-F5344CB8AC3E}">
        <p14:creationId xmlns:p14="http://schemas.microsoft.com/office/powerpoint/2010/main" val="3710307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B61C-0925-3A4E-0188-2546D548A9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D15848-858C-90BB-B8CB-20671EFE52E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677BDF8-33E7-D672-24D9-D25F4EE09F9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1038B9D-6E34-1273-1D83-F7198877A8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E9AFAD0-0F57-3D2C-0EB4-8503B062CCE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1872753-34B7-8920-CE0E-1B392A5C5CB2}"/>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D2D65584-0ED4-5E34-5DC1-AA60986051C8}"/>
              </a:ext>
            </a:extLst>
          </p:cNvPr>
          <p:cNvPicPr>
            <a:picLocks noChangeAspect="1"/>
          </p:cNvPicPr>
          <p:nvPr/>
        </p:nvPicPr>
        <p:blipFill>
          <a:blip r:embed="rId3"/>
          <a:stretch>
            <a:fillRect/>
          </a:stretch>
        </p:blipFill>
        <p:spPr>
          <a:xfrm>
            <a:off x="802886" y="1260535"/>
            <a:ext cx="8501511" cy="3316136"/>
          </a:xfrm>
          <a:prstGeom prst="rect">
            <a:avLst/>
          </a:prstGeom>
        </p:spPr>
      </p:pic>
    </p:spTree>
    <p:extLst>
      <p:ext uri="{BB962C8B-B14F-4D97-AF65-F5344CB8AC3E}">
        <p14:creationId xmlns:p14="http://schemas.microsoft.com/office/powerpoint/2010/main" val="242268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152F-2984-4D32-D30A-C401347886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AF2972-4ABD-8F4E-17D3-B4B1EBB2BA4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54B30F-C5D8-B42D-5665-69505C3CC26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6849267-E235-20AD-217F-75E2E59F9A9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3BE51C9-889D-3EA6-7C6B-936287F8F68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907F33F-E1D2-4FEA-A5A2-61381A6871A3}"/>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88FE58C6-0F09-A3DD-9F7B-C335C2023DAC}"/>
              </a:ext>
            </a:extLst>
          </p:cNvPr>
          <p:cNvPicPr>
            <a:picLocks noChangeAspect="1"/>
          </p:cNvPicPr>
          <p:nvPr/>
        </p:nvPicPr>
        <p:blipFill>
          <a:blip r:embed="rId3"/>
          <a:stretch>
            <a:fillRect/>
          </a:stretch>
        </p:blipFill>
        <p:spPr>
          <a:xfrm>
            <a:off x="678342" y="1261433"/>
            <a:ext cx="8463051" cy="4162606"/>
          </a:xfrm>
          <a:prstGeom prst="rect">
            <a:avLst/>
          </a:prstGeom>
        </p:spPr>
      </p:pic>
    </p:spTree>
    <p:extLst>
      <p:ext uri="{BB962C8B-B14F-4D97-AF65-F5344CB8AC3E}">
        <p14:creationId xmlns:p14="http://schemas.microsoft.com/office/powerpoint/2010/main" val="39939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81B34-84EA-3B86-8765-889CEAA770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0EB122-51B0-9E8B-4AEF-A3E68648990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E778E7C-C497-6A77-194F-5FFD722393E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D171C50-6A1D-7729-3334-BC706724990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BE590BB-71BE-AD67-E06C-CC516196E53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270A4CA-CD82-2205-9949-FDC96D5DB15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89FBF619-F43F-473D-74F0-0BBA37CB866C}"/>
              </a:ext>
            </a:extLst>
          </p:cNvPr>
          <p:cNvPicPr>
            <a:picLocks noChangeAspect="1"/>
          </p:cNvPicPr>
          <p:nvPr/>
        </p:nvPicPr>
        <p:blipFill>
          <a:blip r:embed="rId3"/>
          <a:stretch>
            <a:fillRect/>
          </a:stretch>
        </p:blipFill>
        <p:spPr>
          <a:xfrm>
            <a:off x="679420" y="1436748"/>
            <a:ext cx="8331499" cy="3998882"/>
          </a:xfrm>
          <a:prstGeom prst="rect">
            <a:avLst/>
          </a:prstGeom>
        </p:spPr>
      </p:pic>
    </p:spTree>
    <p:extLst>
      <p:ext uri="{BB962C8B-B14F-4D97-AF65-F5344CB8AC3E}">
        <p14:creationId xmlns:p14="http://schemas.microsoft.com/office/powerpoint/2010/main" val="34966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65004-CBA3-2D09-9362-22469A1A0B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E92B72-12F1-DC2D-5643-0995FA829B1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0017FC8-6152-D172-D14A-B9C576E8ECE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8EDA2D4-6348-C47D-A552-867628EABD9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B7EB5C1-CCAA-5AAD-36D4-DEFA840A05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18018EE-2819-460B-E10E-FDD2F8D81C43}"/>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3397B306-284E-A754-DC38-C28EEEB71504}"/>
              </a:ext>
            </a:extLst>
          </p:cNvPr>
          <p:cNvPicPr>
            <a:picLocks noChangeAspect="1"/>
          </p:cNvPicPr>
          <p:nvPr/>
        </p:nvPicPr>
        <p:blipFill>
          <a:blip r:embed="rId3"/>
          <a:stretch>
            <a:fillRect/>
          </a:stretch>
        </p:blipFill>
        <p:spPr>
          <a:xfrm>
            <a:off x="670344" y="1427582"/>
            <a:ext cx="7903952" cy="3830308"/>
          </a:xfrm>
          <a:prstGeom prst="rect">
            <a:avLst/>
          </a:prstGeom>
        </p:spPr>
      </p:pic>
    </p:spTree>
    <p:extLst>
      <p:ext uri="{BB962C8B-B14F-4D97-AF65-F5344CB8AC3E}">
        <p14:creationId xmlns:p14="http://schemas.microsoft.com/office/powerpoint/2010/main" val="254138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A11B7-E28B-70FB-B570-E1F7D966A3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34DA882-AB26-136D-DE45-F1013E39D53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54D1D7-E0DF-7FE9-16CE-3258B19CFB7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4981D84-5DF6-22DC-2B3B-6F559496879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8060A0B-3FA4-9678-AAFC-02CBE1E5F1F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74DF859-581E-D8FF-78A0-48E9FDDA76C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0DFD221D-A461-0988-192B-9B8EA5B8C2EB}"/>
              </a:ext>
            </a:extLst>
          </p:cNvPr>
          <p:cNvPicPr>
            <a:picLocks noChangeAspect="1"/>
          </p:cNvPicPr>
          <p:nvPr/>
        </p:nvPicPr>
        <p:blipFill>
          <a:blip r:embed="rId3"/>
          <a:stretch>
            <a:fillRect/>
          </a:stretch>
        </p:blipFill>
        <p:spPr>
          <a:xfrm>
            <a:off x="677533" y="1432883"/>
            <a:ext cx="8018971" cy="4552950"/>
          </a:xfrm>
          <a:prstGeom prst="rect">
            <a:avLst/>
          </a:prstGeom>
        </p:spPr>
      </p:pic>
    </p:spTree>
    <p:extLst>
      <p:ext uri="{BB962C8B-B14F-4D97-AF65-F5344CB8AC3E}">
        <p14:creationId xmlns:p14="http://schemas.microsoft.com/office/powerpoint/2010/main" val="135251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58FB-E950-F853-CB76-86E118920E2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AE0A88-05F9-CA0C-5729-FAE6ACB4E83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366DE2-A8AD-730B-8850-404BF765203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CA363CD-CEC5-EE65-4241-1A5EF19F8A8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795D335-EFD3-AD45-E8FD-44CF95751DB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7AC055B-3B28-591E-8BC6-BBF4A8550CB1}"/>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DB162E0E-6F67-D850-2DDF-6032FDDF89F7}"/>
              </a:ext>
            </a:extLst>
          </p:cNvPr>
          <p:cNvPicPr>
            <a:picLocks noChangeAspect="1"/>
          </p:cNvPicPr>
          <p:nvPr/>
        </p:nvPicPr>
        <p:blipFill>
          <a:blip r:embed="rId3"/>
          <a:stretch>
            <a:fillRect/>
          </a:stretch>
        </p:blipFill>
        <p:spPr>
          <a:xfrm>
            <a:off x="807648" y="1200601"/>
            <a:ext cx="7428062" cy="4701216"/>
          </a:xfrm>
          <a:prstGeom prst="rect">
            <a:avLst/>
          </a:prstGeom>
        </p:spPr>
      </p:pic>
    </p:spTree>
    <p:extLst>
      <p:ext uri="{BB962C8B-B14F-4D97-AF65-F5344CB8AC3E}">
        <p14:creationId xmlns:p14="http://schemas.microsoft.com/office/powerpoint/2010/main" val="348062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CFE95-689F-3B7A-1EC7-D8E01EDC88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D3DB6A-7B19-D281-49A3-5337C6FF364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48D2C30-72CA-6829-05D8-2412412B385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A312E9A-DE68-9BED-874B-FC7AE4F93BF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67962FD-2576-738F-5221-B7351841C23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95D201F-14B6-59DF-CDF6-79291A1AE138}"/>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7B926FC8-684B-7002-04CA-1C7DEB5D29C1}"/>
              </a:ext>
            </a:extLst>
          </p:cNvPr>
          <p:cNvPicPr>
            <a:picLocks noChangeAspect="1"/>
          </p:cNvPicPr>
          <p:nvPr/>
        </p:nvPicPr>
        <p:blipFill>
          <a:blip r:embed="rId3"/>
          <a:stretch>
            <a:fillRect/>
          </a:stretch>
        </p:blipFill>
        <p:spPr>
          <a:xfrm>
            <a:off x="672951" y="1272216"/>
            <a:ext cx="7999383" cy="4371077"/>
          </a:xfrm>
          <a:prstGeom prst="rect">
            <a:avLst/>
          </a:prstGeom>
        </p:spPr>
      </p:pic>
    </p:spTree>
    <p:extLst>
      <p:ext uri="{BB962C8B-B14F-4D97-AF65-F5344CB8AC3E}">
        <p14:creationId xmlns:p14="http://schemas.microsoft.com/office/powerpoint/2010/main" val="175217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F463-C945-AD66-A615-50B9DD0CC6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9C131A-A1C4-AC30-B591-10ABE92E1A8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386FBA6-2E13-DC33-871C-3D3437BE0AB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D83C2B0-84CD-04A6-98C1-125B6A9179B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54489D1-0B2F-DC46-C90B-180508A0C4C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2B28E33-25D8-6B52-5922-AAAD10C772CC}"/>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BFFE762D-0DAC-5AD4-E802-FC902044F24E}"/>
              </a:ext>
            </a:extLst>
          </p:cNvPr>
          <p:cNvPicPr>
            <a:picLocks noChangeAspect="1"/>
          </p:cNvPicPr>
          <p:nvPr/>
        </p:nvPicPr>
        <p:blipFill>
          <a:blip r:embed="rId3"/>
          <a:stretch>
            <a:fillRect/>
          </a:stretch>
        </p:blipFill>
        <p:spPr>
          <a:xfrm>
            <a:off x="807379" y="1209855"/>
            <a:ext cx="7845546" cy="3086819"/>
          </a:xfrm>
          <a:prstGeom prst="rect">
            <a:avLst/>
          </a:prstGeom>
        </p:spPr>
      </p:pic>
      <p:pic>
        <p:nvPicPr>
          <p:cNvPr id="3" name="Picture 2">
            <a:extLst>
              <a:ext uri="{FF2B5EF4-FFF2-40B4-BE49-F238E27FC236}">
                <a16:creationId xmlns:a16="http://schemas.microsoft.com/office/drawing/2014/main" id="{B29C0388-0E70-E954-775D-4C7BB3B5CE72}"/>
              </a:ext>
            </a:extLst>
          </p:cNvPr>
          <p:cNvPicPr>
            <a:picLocks noChangeAspect="1"/>
          </p:cNvPicPr>
          <p:nvPr/>
        </p:nvPicPr>
        <p:blipFill>
          <a:blip r:embed="rId4"/>
          <a:stretch>
            <a:fillRect/>
          </a:stretch>
        </p:blipFill>
        <p:spPr>
          <a:xfrm>
            <a:off x="802887" y="4495800"/>
            <a:ext cx="7854531" cy="1762665"/>
          </a:xfrm>
          <a:prstGeom prst="rect">
            <a:avLst/>
          </a:prstGeom>
        </p:spPr>
      </p:pic>
    </p:spTree>
    <p:extLst>
      <p:ext uri="{BB962C8B-B14F-4D97-AF65-F5344CB8AC3E}">
        <p14:creationId xmlns:p14="http://schemas.microsoft.com/office/powerpoint/2010/main" val="425582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17331-6B36-7F4D-F58D-3E6F0319C8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7AB734-EC1A-FC08-34A1-536DDF1051E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766380E-7026-5ED8-EE5C-D47C22DFE9C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15D11BF-D21D-BDA4-C846-48A66098AA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41257D2-35E0-29E8-D7C1-C767C27CCD6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D19668B-AE76-30D3-4C65-F429E7A21D77}"/>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E1E39492-9467-316D-7C12-C5F787557505}"/>
              </a:ext>
            </a:extLst>
          </p:cNvPr>
          <p:cNvPicPr>
            <a:picLocks noChangeAspect="1"/>
          </p:cNvPicPr>
          <p:nvPr/>
        </p:nvPicPr>
        <p:blipFill>
          <a:blip r:embed="rId3"/>
          <a:stretch>
            <a:fillRect/>
          </a:stretch>
        </p:blipFill>
        <p:spPr>
          <a:xfrm>
            <a:off x="800459" y="1219380"/>
            <a:ext cx="7816250" cy="4620523"/>
          </a:xfrm>
          <a:prstGeom prst="rect">
            <a:avLst/>
          </a:prstGeom>
        </p:spPr>
      </p:pic>
    </p:spTree>
    <p:extLst>
      <p:ext uri="{BB962C8B-B14F-4D97-AF65-F5344CB8AC3E}">
        <p14:creationId xmlns:p14="http://schemas.microsoft.com/office/powerpoint/2010/main" val="8995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C64E0-4AE4-6574-299A-78117F2873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C905A8-6003-6C47-9911-A66057CFAFD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3BD7EC2-B29C-1525-89A1-B03F6BC2619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99C9171-20C9-8C7C-227D-0E37F92FB3C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FA158B0-90BF-7E80-7679-0C6C1DC740A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A69A0FB-55CD-7996-7C29-7A46D33CAC9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E9341544-5E14-4BDA-7478-18AD1EACBD19}"/>
              </a:ext>
            </a:extLst>
          </p:cNvPr>
          <p:cNvPicPr>
            <a:picLocks noChangeAspect="1"/>
          </p:cNvPicPr>
          <p:nvPr/>
        </p:nvPicPr>
        <p:blipFill>
          <a:blip r:embed="rId3"/>
          <a:stretch>
            <a:fillRect/>
          </a:stretch>
        </p:blipFill>
        <p:spPr>
          <a:xfrm>
            <a:off x="810883" y="1197993"/>
            <a:ext cx="7881668" cy="4648918"/>
          </a:xfrm>
          <a:prstGeom prst="rect">
            <a:avLst/>
          </a:prstGeom>
        </p:spPr>
      </p:pic>
    </p:spTree>
    <p:extLst>
      <p:ext uri="{BB962C8B-B14F-4D97-AF65-F5344CB8AC3E}">
        <p14:creationId xmlns:p14="http://schemas.microsoft.com/office/powerpoint/2010/main" val="42818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B65F0-B6C0-E8B0-7724-A933EF59B2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4F19CE-D6AF-00A0-331F-5388BDBF3A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315220F-0DBA-2DD0-CFF2-E8F5B15A0C8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0BA666B-B0BF-44E9-17F0-0439F2147E3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47AEF18-6C63-C2EE-4A75-0E50A725ED3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6AC88E3-ACC7-A5F1-E2DA-8AA6E416F049}"/>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C8D8965E-8422-6E24-DA40-9295A90CD1E5}"/>
              </a:ext>
            </a:extLst>
          </p:cNvPr>
          <p:cNvPicPr>
            <a:picLocks noChangeAspect="1"/>
          </p:cNvPicPr>
          <p:nvPr/>
        </p:nvPicPr>
        <p:blipFill>
          <a:blip r:embed="rId3"/>
          <a:stretch>
            <a:fillRect/>
          </a:stretch>
        </p:blipFill>
        <p:spPr>
          <a:xfrm>
            <a:off x="669625" y="1201679"/>
            <a:ext cx="7747239" cy="4742192"/>
          </a:xfrm>
          <a:prstGeom prst="rect">
            <a:avLst/>
          </a:prstGeom>
        </p:spPr>
      </p:pic>
    </p:spTree>
    <p:extLst>
      <p:ext uri="{BB962C8B-B14F-4D97-AF65-F5344CB8AC3E}">
        <p14:creationId xmlns:p14="http://schemas.microsoft.com/office/powerpoint/2010/main" val="268718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4546E-A163-81A7-9797-B51DA3CAA8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282ECC-4589-6FE4-7985-6CCDDB9D61C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7C554C8-E186-F116-E94D-0133DD0A108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7E0F971-0E78-62B6-7C67-EC26D6CEE24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AB092E3-E248-4988-513A-5007CEED1F2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E8EA6BA-8AC2-FC12-7598-72AC7352FB1B}"/>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6" name="Picture 5">
            <a:extLst>
              <a:ext uri="{FF2B5EF4-FFF2-40B4-BE49-F238E27FC236}">
                <a16:creationId xmlns:a16="http://schemas.microsoft.com/office/drawing/2014/main" id="{7BD5713E-D062-9C1F-95EF-325335F06A30}"/>
              </a:ext>
            </a:extLst>
          </p:cNvPr>
          <p:cNvPicPr>
            <a:picLocks noChangeAspect="1"/>
          </p:cNvPicPr>
          <p:nvPr/>
        </p:nvPicPr>
        <p:blipFill>
          <a:blip r:embed="rId3"/>
          <a:stretch>
            <a:fillRect/>
          </a:stretch>
        </p:blipFill>
        <p:spPr>
          <a:xfrm>
            <a:off x="678521" y="1205902"/>
            <a:ext cx="7945107" cy="3353518"/>
          </a:xfrm>
          <a:prstGeom prst="rect">
            <a:avLst/>
          </a:prstGeom>
        </p:spPr>
      </p:pic>
      <p:pic>
        <p:nvPicPr>
          <p:cNvPr id="9" name="Picture 8">
            <a:extLst>
              <a:ext uri="{FF2B5EF4-FFF2-40B4-BE49-F238E27FC236}">
                <a16:creationId xmlns:a16="http://schemas.microsoft.com/office/drawing/2014/main" id="{D4651409-3AD6-C51B-C67F-F0FF3D045D1C}"/>
              </a:ext>
            </a:extLst>
          </p:cNvPr>
          <p:cNvPicPr>
            <a:picLocks noChangeAspect="1"/>
          </p:cNvPicPr>
          <p:nvPr/>
        </p:nvPicPr>
        <p:blipFill>
          <a:blip r:embed="rId4"/>
          <a:stretch>
            <a:fillRect/>
          </a:stretch>
        </p:blipFill>
        <p:spPr>
          <a:xfrm>
            <a:off x="673131" y="4557713"/>
            <a:ext cx="7955891" cy="2300198"/>
          </a:xfrm>
          <a:prstGeom prst="rect">
            <a:avLst/>
          </a:prstGeom>
        </p:spPr>
      </p:pic>
    </p:spTree>
    <p:extLst>
      <p:ext uri="{BB962C8B-B14F-4D97-AF65-F5344CB8AC3E}">
        <p14:creationId xmlns:p14="http://schemas.microsoft.com/office/powerpoint/2010/main" val="106762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B79B2-3D9F-ACB6-E88D-1C2670C272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E2D2BC-BB41-3604-D7E7-1A8F8B52DE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5E93C6C-72C9-3502-EEAB-4BFEF53DFE1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2C8804D-B3CA-38A7-244F-FEDB83DD4B7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9E905FF-679C-F370-2FE3-E456E496F07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EC08AE1-7AAA-1326-B06E-79A141E8B69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2" name="Picture 1">
            <a:extLst>
              <a:ext uri="{FF2B5EF4-FFF2-40B4-BE49-F238E27FC236}">
                <a16:creationId xmlns:a16="http://schemas.microsoft.com/office/drawing/2014/main" id="{1F52936C-7A48-1F25-F937-5C6A7EE67367}"/>
              </a:ext>
            </a:extLst>
          </p:cNvPr>
          <p:cNvPicPr>
            <a:picLocks noChangeAspect="1"/>
          </p:cNvPicPr>
          <p:nvPr/>
        </p:nvPicPr>
        <p:blipFill>
          <a:blip r:embed="rId3"/>
          <a:stretch>
            <a:fillRect/>
          </a:stretch>
        </p:blipFill>
        <p:spPr>
          <a:xfrm>
            <a:off x="676994" y="1271228"/>
            <a:ext cx="7818767" cy="4416187"/>
          </a:xfrm>
          <a:prstGeom prst="rect">
            <a:avLst/>
          </a:prstGeom>
        </p:spPr>
      </p:pic>
    </p:spTree>
    <p:extLst>
      <p:ext uri="{BB962C8B-B14F-4D97-AF65-F5344CB8AC3E}">
        <p14:creationId xmlns:p14="http://schemas.microsoft.com/office/powerpoint/2010/main" val="86425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0CC23-58FD-F32A-1D36-2DEE719542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257F55-CB4D-BA71-29EF-691CF670958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7DBB5B9-B6A4-9427-06BF-31E4509EEE2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148B994-D6AD-CB76-D2E0-58DF4E94CE7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059BFF-9A2B-C3CF-2D96-228AB9E09A3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6544E6B-B2C3-0AE5-1755-E9DE86956175}"/>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US" dirty="0"/>
          </a:p>
        </p:txBody>
      </p:sp>
      <p:pic>
        <p:nvPicPr>
          <p:cNvPr id="6" name="Picture 5">
            <a:extLst>
              <a:ext uri="{FF2B5EF4-FFF2-40B4-BE49-F238E27FC236}">
                <a16:creationId xmlns:a16="http://schemas.microsoft.com/office/drawing/2014/main" id="{6EC916C5-1DE9-D1EC-9F18-2040AE03C4CF}"/>
              </a:ext>
            </a:extLst>
          </p:cNvPr>
          <p:cNvPicPr>
            <a:picLocks noChangeAspect="1"/>
          </p:cNvPicPr>
          <p:nvPr/>
        </p:nvPicPr>
        <p:blipFill>
          <a:blip r:embed="rId3"/>
          <a:srcRect r="367"/>
          <a:stretch>
            <a:fillRect/>
          </a:stretch>
        </p:blipFill>
        <p:spPr>
          <a:xfrm>
            <a:off x="676455" y="1282460"/>
            <a:ext cx="7618515" cy="4595004"/>
          </a:xfrm>
          <a:prstGeom prst="rect">
            <a:avLst/>
          </a:prstGeom>
        </p:spPr>
      </p:pic>
    </p:spTree>
    <p:extLst>
      <p:ext uri="{BB962C8B-B14F-4D97-AF65-F5344CB8AC3E}">
        <p14:creationId xmlns:p14="http://schemas.microsoft.com/office/powerpoint/2010/main" val="3476913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42476"/>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07CC41C-3E9A-D68C-0442-E8042BF25080}"/>
              </a:ext>
            </a:extLst>
          </p:cNvPr>
          <p:cNvSpPr txBox="1"/>
          <p:nvPr/>
        </p:nvSpPr>
        <p:spPr>
          <a:xfrm>
            <a:off x="670110" y="1274270"/>
            <a:ext cx="8885833"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dirty="0">
                <a:solidFill>
                  <a:srgbClr val="1F1F1F"/>
                </a:solidFill>
                <a:ea typeface="+mn-lt"/>
                <a:cs typeface="+mn-lt"/>
              </a:rPr>
              <a:t>Predictive Yield Modeling:</a:t>
            </a:r>
            <a:r>
              <a:rPr lang="en-US" sz="2000" dirty="0">
                <a:solidFill>
                  <a:srgbClr val="1F1F1F"/>
                </a:solidFill>
                <a:ea typeface="+mn-lt"/>
                <a:cs typeface="+mn-lt"/>
              </a:rPr>
              <a:t> Integrate real-time IoT soil sensors and live meteorological forecasting APIs to build machine learning models that forecast crop yields ahead of harvest.</a:t>
            </a:r>
            <a:endParaRPr lang="en-US" sz="2000" dirty="0">
              <a:solidFill>
                <a:srgbClr val="000000"/>
              </a:solidFill>
              <a:ea typeface="+mn-lt"/>
              <a:cs typeface="+mn-lt"/>
            </a:endParaRPr>
          </a:p>
          <a:p>
            <a:pPr marL="285750" indent="-285750">
              <a:buFont typeface="Arial"/>
              <a:buChar char="•"/>
            </a:pPr>
            <a:endParaRPr lang="en-US" sz="2000" b="1" dirty="0">
              <a:solidFill>
                <a:srgbClr val="1F1F1F"/>
              </a:solidFill>
              <a:ea typeface="+mn-lt"/>
              <a:cs typeface="+mn-lt"/>
            </a:endParaRPr>
          </a:p>
          <a:p>
            <a:pPr marL="285750" indent="-285750">
              <a:buFont typeface="Arial"/>
              <a:buChar char="•"/>
            </a:pPr>
            <a:r>
              <a:rPr lang="en-US" sz="2000" b="1" dirty="0">
                <a:solidFill>
                  <a:srgbClr val="1F1F1F"/>
                </a:solidFill>
                <a:ea typeface="+mn-lt"/>
                <a:cs typeface="+mn-lt"/>
              </a:rPr>
              <a:t>Dynamic Market Price Tracking:</a:t>
            </a:r>
            <a:r>
              <a:rPr lang="en-US" sz="2000" dirty="0">
                <a:solidFill>
                  <a:srgbClr val="1F1F1F"/>
                </a:solidFill>
                <a:ea typeface="+mn-lt"/>
                <a:cs typeface="+mn-lt"/>
              </a:rPr>
              <a:t> Incorporate macro-level market pricing feeds and daily mandi price fluctuations to evaluate real-time revenue and profit volatility.</a:t>
            </a:r>
            <a:endParaRPr lang="en-US" sz="2000" dirty="0"/>
          </a:p>
          <a:p>
            <a:pPr marL="285750" indent="-285750">
              <a:buFont typeface="Arial"/>
              <a:buChar char="•"/>
            </a:pPr>
            <a:endParaRPr lang="en-US" sz="2000" b="1" dirty="0">
              <a:solidFill>
                <a:srgbClr val="1F1F1F"/>
              </a:solidFill>
              <a:ea typeface="+mn-lt"/>
              <a:cs typeface="+mn-lt"/>
            </a:endParaRPr>
          </a:p>
          <a:p>
            <a:pPr marL="285750" indent="-285750">
              <a:buFont typeface="Arial"/>
              <a:buChar char="•"/>
            </a:pPr>
            <a:r>
              <a:rPr lang="en-US" sz="2000" b="1" dirty="0">
                <a:solidFill>
                  <a:srgbClr val="1F1F1F"/>
                </a:solidFill>
                <a:ea typeface="+mn-lt"/>
                <a:cs typeface="+mn-lt"/>
              </a:rPr>
              <a:t>Automated Pest &amp; Disease Early Warning:</a:t>
            </a:r>
            <a:r>
              <a:rPr lang="en-US" sz="2000" dirty="0">
                <a:solidFill>
                  <a:srgbClr val="1F1F1F"/>
                </a:solidFill>
                <a:ea typeface="+mn-lt"/>
                <a:cs typeface="+mn-lt"/>
              </a:rPr>
              <a:t> Expand the current analytics pipeline into an automated classification framework that uses environmental humidity and temperature triggers to predict pest outbreaks before crop damage occurs.</a:t>
            </a:r>
            <a:endParaRPr lang="en-US" sz="2000" dirty="0">
              <a:solidFill>
                <a:srgbClr val="000000"/>
              </a:solidFill>
              <a:ea typeface="+mn-lt"/>
              <a:cs typeface="+mn-lt"/>
            </a:endParaRPr>
          </a:p>
          <a:p>
            <a:pPr marL="285750" indent="-285750">
              <a:buFont typeface="Arial"/>
              <a:buChar char="•"/>
            </a:pPr>
            <a:endParaRPr lang="en-US" sz="2000" b="1" dirty="0">
              <a:solidFill>
                <a:srgbClr val="1F1F1F"/>
              </a:solidFill>
              <a:ea typeface="+mn-lt"/>
              <a:cs typeface="+mn-lt"/>
            </a:endParaRPr>
          </a:p>
          <a:p>
            <a:pPr marL="285750" indent="-285750">
              <a:buFont typeface="Arial"/>
              <a:buChar char="•"/>
            </a:pPr>
            <a:r>
              <a:rPr lang="en-US" sz="2000" b="1" dirty="0">
                <a:solidFill>
                  <a:srgbClr val="1F1F1F"/>
                </a:solidFill>
                <a:ea typeface="+mn-lt"/>
                <a:cs typeface="+mn-lt"/>
              </a:rPr>
              <a:t>Precision Farming Mobile Integration:</a:t>
            </a:r>
            <a:r>
              <a:rPr lang="en-US" sz="2000" dirty="0">
                <a:solidFill>
                  <a:srgbClr val="1F1F1F"/>
                </a:solidFill>
                <a:ea typeface="+mn-lt"/>
                <a:cs typeface="+mn-lt"/>
              </a:rPr>
              <a:t> Translate the data insights into a lightweight mobile dashboard for local farmers to receive real-time, localized recommendations on optimal irrigation schedules and fertilizer thresholds.</a:t>
            </a:r>
            <a:endParaRPr lang="en-US" sz="2000"/>
          </a:p>
          <a:p>
            <a:pPr algn="l"/>
            <a:endParaRPr lang="en-US"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lIns="91440" tIns="45720" rIns="91440" bIns="45720" anchor="t">
            <a:spAutoFit/>
          </a:bodyPr>
          <a:lstStyle/>
          <a:p>
            <a:r>
              <a:rPr lang="en-US" dirty="0">
                <a:ea typeface="+mn-lt"/>
                <a:cs typeface="+mn-lt"/>
              </a:rPr>
              <a:t>https://github.com/RPRK01/Seasonal_Agriculture_Performance_Analysis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7B84CF4-E651-7384-14C1-72E50BF033A6}"/>
              </a:ext>
            </a:extLst>
          </p:cNvPr>
          <p:cNvPicPr>
            <a:picLocks noChangeAspect="1"/>
          </p:cNvPicPr>
          <p:nvPr/>
        </p:nvPicPr>
        <p:blipFill>
          <a:blip r:embed="rId3"/>
          <a:srcRect l="25974" t="16176" r="25837" b="22899"/>
          <a:stretch>
            <a:fillRect/>
          </a:stretch>
        </p:blipFill>
        <p:spPr>
          <a:xfrm>
            <a:off x="675736" y="1482542"/>
            <a:ext cx="7974360" cy="450684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Facet</vt:lpstr>
      <vt:lpstr>Project Title –Seasonal_Agriculture_Performance_Analysis</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434</cp:revision>
  <dcterms:created xsi:type="dcterms:W3CDTF">2021-07-11T13:13:15Z</dcterms:created>
  <dcterms:modified xsi:type="dcterms:W3CDTF">2026-09-12T20:44:01Z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